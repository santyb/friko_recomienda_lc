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563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6943-3C97-0394-1EA0-07A44589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B3EC2-BF1E-F8B5-7DFF-605112DD5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0F737-480E-E26B-E43A-459D97B03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E2480-AEEF-1EEE-1541-9446A5A4DD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06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34ACE2E-E46A-BFF6-84D5-64C5DD671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1" y="-3235"/>
            <a:ext cx="9010157" cy="507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4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5C800">
              <a:alpha val="15000"/>
            </a:srgbClr>
          </a:solidFill>
          <a:ln w="12700">
            <a:solidFill>
              <a:srgbClr val="F5C8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CC1A1A">
              <a:alpha val="20000"/>
            </a:srgbClr>
          </a:solidFill>
          <a:ln w="12700">
            <a:solidFill>
              <a:srgbClr val="CC1A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731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6400" b="1" noProof="0" dirty="0">
                <a:solidFill>
                  <a:srgbClr val="F5C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FRIKO</a:t>
            </a:r>
            <a:endParaRPr lang="es-CO" sz="64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800" b="1" kern="0" spc="600" noProof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RECOMIENDA</a:t>
            </a:r>
            <a:endParaRPr lang="es-CO" sz="38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i="1" noProof="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catálogo estático a experiencia inteligente</a:t>
            </a:r>
            <a:endParaRPr lang="es-CO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4114800" cy="45720"/>
          </a:xfrm>
          <a:prstGeom prst="rect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12 – Grupo 2  |  Fase 4: Cierre y aprendizajes</a:t>
            </a:r>
            <a:endParaRPr lang="es-CO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Friko</a:t>
            </a:r>
            <a:r>
              <a:rPr lang="es-CO" sz="11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Antillana  ·  Sistema de recomendación de productos y recetas</a:t>
            </a:r>
            <a:endParaRPr lang="es-CO" sz="1100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4123479-BFCC-BE69-BB6C-62787E988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500" b="72969" l="2030" r="95601">
                        <a14:foregroundMark x1="9306" y1="50313" x2="34687" y2="33828"/>
                        <a14:foregroundMark x1="34687" y1="33828" x2="52453" y2="29531"/>
                        <a14:foregroundMark x1="52453" y1="29531" x2="78342" y2="41563"/>
                        <a14:foregroundMark x1="78342" y1="41563" x2="79357" y2="50625"/>
                        <a14:foregroundMark x1="79357" y1="50625" x2="69036" y2="62031"/>
                        <a14:foregroundMark x1="69036" y1="62031" x2="50423" y2="66094"/>
                        <a14:foregroundMark x1="50423" y1="66094" x2="23689" y2="63281"/>
                        <a14:foregroundMark x1="23689" y1="63281" x2="12014" y2="50391"/>
                        <a14:foregroundMark x1="12014" y1="50391" x2="11844" y2="47188"/>
                        <a14:foregroundMark x1="9306" y1="43594" x2="25381" y2="32969"/>
                        <a14:foregroundMark x1="25381" y1="32969" x2="29611" y2="31406"/>
                        <a14:foregroundMark x1="88325" y1="56563" x2="87310" y2="43672"/>
                        <a14:foregroundMark x1="87310" y1="43672" x2="79188" y2="33516"/>
                        <a14:foregroundMark x1="79188" y1="33516" x2="65651" y2="31484"/>
                        <a14:foregroundMark x1="87310" y1="59141" x2="50931" y2="66328"/>
                        <a14:foregroundMark x1="50931" y1="66328" x2="19966" y2="67891"/>
                        <a14:foregroundMark x1="19966" y1="67891" x2="20135" y2="63281"/>
                        <a14:foregroundMark x1="18443" y1="62891" x2="6091" y2="47656"/>
                        <a14:foregroundMark x1="6091" y1="47656" x2="17259" y2="36016"/>
                        <a14:foregroundMark x1="17259" y1="36016" x2="19289" y2="35234"/>
                        <a14:foregroundMark x1="29611" y1="66875" x2="78849" y2="68828"/>
                        <a14:foregroundMark x1="78849" y1="68828" x2="89509" y2="59062"/>
                        <a14:foregroundMark x1="89509" y1="59062" x2="95601" y2="45000"/>
                        <a14:foregroundMark x1="95601" y1="45000" x2="95431" y2="43828"/>
                        <a14:foregroundMark x1="49239" y1="71016" x2="49239" y2="71016"/>
                        <a14:foregroundMark x1="48731" y1="72969" x2="48731" y2="72969"/>
                        <a14:foregroundMark x1="50423" y1="27500" x2="50423" y2="27500"/>
                        <a14:foregroundMark x1="2030" y1="48672" x2="2030" y2="48672"/>
                        <a14:foregroundMark x1="59222" y1="43828" x2="59222" y2="43828"/>
                        <a14:backgroundMark x1="8460" y1="30859" x2="8460" y2="30859"/>
                        <a14:backgroundMark x1="1015" y1="33750" x2="26058" y2="24766"/>
                        <a14:backgroundMark x1="96954" y1="35000" x2="72589" y2="26328"/>
                        <a14:backgroundMark x1="72589" y1="26328" x2="66328" y2="19297"/>
                        <a14:backgroundMark x1="91709" y1="72344" x2="99154" y2="67031"/>
                        <a14:backgroundMark x1="20474" y1="71875" x2="2369" y2="67109"/>
                        <a14:backgroundMark x1="2369" y1="67109" x2="2369" y2="67109"/>
                      </a14:backgroundRemoval>
                    </a14:imgEffect>
                  </a14:imgLayer>
                </a14:imgProps>
              </a:ext>
            </a:extLst>
          </a:blip>
          <a:srcRect l="-3720" t="26412" r="-2698" b="25997"/>
          <a:stretch>
            <a:fillRect/>
          </a:stretch>
        </p:blipFill>
        <p:spPr>
          <a:xfrm>
            <a:off x="6068657" y="586292"/>
            <a:ext cx="2651759" cy="25683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28600" y="9144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C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5C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PROBLEMA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743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cocino hoy?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749040" y="228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catálogo y contexto real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749040" y="777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Friko y Antillana tienen portafolio amplio, pero el consumidor no sabe qué elegir ni cómo prepararlo según su situación.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749040" y="1508760"/>
            <a:ext cx="502920" cy="5029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56362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15819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el usuario?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749040" y="2313432"/>
            <a:ext cx="502920" cy="5029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236829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23865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cuántas personas cocina?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749040" y="3118104"/>
            <a:ext cx="502920" cy="5029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317296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34840" y="31912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método tiene disponible?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3749040" y="3922776"/>
            <a:ext cx="502920" cy="5029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192" y="397764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34840" y="3995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ocasión cocina?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3749040" y="4617720"/>
            <a:ext cx="5212080" cy="347472"/>
          </a:xfrm>
          <a:prstGeom prst="rect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4"/>
          <p:cNvSpPr/>
          <p:nvPr/>
        </p:nvSpPr>
        <p:spPr>
          <a:xfrm>
            <a:off x="3749040" y="46177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abandono, decisiones pobres, desaprovechamiento del portafolio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Friko Recomienda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culinario conversacional — producto ideal + receta lista para preparar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2560320"/>
          </a:xfrm>
          <a:prstGeom prst="rect">
            <a:avLst/>
          </a:prstGeom>
          <a:solidFill>
            <a:srgbClr val="2D2D44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417320" y="2240280"/>
            <a:ext cx="685800" cy="68580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3317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primero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45643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entiende región, personas, método y ocasión antes de recomendar.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2103120"/>
            <a:ext cx="2651760" cy="2560320"/>
          </a:xfrm>
          <a:prstGeom prst="rect">
            <a:avLst/>
          </a:prstGeom>
          <a:solidFill>
            <a:srgbClr val="2D2D44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297680" y="2240280"/>
            <a:ext cx="685800" cy="68580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89120" y="232029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protagonista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345643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recetas y productos son exclusivamente Friko y Antillana.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2103120"/>
            <a:ext cx="2651760" cy="2560320"/>
          </a:xfrm>
          <a:prstGeom prst="rect">
            <a:avLst/>
          </a:prstGeom>
          <a:solidFill>
            <a:srgbClr val="2D2D44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7178040" y="2240280"/>
            <a:ext cx="685800" cy="68580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9" name="Text 14"/>
          <p:cNvSpPr/>
          <p:nvPr/>
        </p:nvSpPr>
        <p:spPr>
          <a:xfrm>
            <a:off x="621792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límites claros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55080" y="345643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improvisa ni inventa. Precisión construye confianza.</a:t>
            </a:r>
            <a:endParaRPr lang="en-US" sz="11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3FB13BD-35C2-73D2-8BE5-A7ABA6D9E6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7500" b="72969" l="2030" r="95601">
                        <a14:foregroundMark x1="9306" y1="50313" x2="34687" y2="33828"/>
                        <a14:foregroundMark x1="34687" y1="33828" x2="52453" y2="29531"/>
                        <a14:foregroundMark x1="52453" y1="29531" x2="78342" y2="41563"/>
                        <a14:foregroundMark x1="78342" y1="41563" x2="79357" y2="50625"/>
                        <a14:foregroundMark x1="79357" y1="50625" x2="69036" y2="62031"/>
                        <a14:foregroundMark x1="69036" y1="62031" x2="50423" y2="66094"/>
                        <a14:foregroundMark x1="50423" y1="66094" x2="23689" y2="63281"/>
                        <a14:foregroundMark x1="23689" y1="63281" x2="12014" y2="50391"/>
                        <a14:foregroundMark x1="12014" y1="50391" x2="11844" y2="47188"/>
                        <a14:foregroundMark x1="9306" y1="43594" x2="25381" y2="32969"/>
                        <a14:foregroundMark x1="25381" y1="32969" x2="29611" y2="31406"/>
                        <a14:foregroundMark x1="88325" y1="56563" x2="87310" y2="43672"/>
                        <a14:foregroundMark x1="87310" y1="43672" x2="79188" y2="33516"/>
                        <a14:foregroundMark x1="79188" y1="33516" x2="65651" y2="31484"/>
                        <a14:foregroundMark x1="87310" y1="59141" x2="50931" y2="66328"/>
                        <a14:foregroundMark x1="50931" y1="66328" x2="19966" y2="67891"/>
                        <a14:foregroundMark x1="19966" y1="67891" x2="20135" y2="63281"/>
                        <a14:foregroundMark x1="18443" y1="62891" x2="6091" y2="47656"/>
                        <a14:foregroundMark x1="6091" y1="47656" x2="17259" y2="36016"/>
                        <a14:foregroundMark x1="17259" y1="36016" x2="19289" y2="35234"/>
                        <a14:foregroundMark x1="29611" y1="66875" x2="78849" y2="68828"/>
                        <a14:foregroundMark x1="78849" y1="68828" x2="89509" y2="59062"/>
                        <a14:foregroundMark x1="89509" y1="59062" x2="95601" y2="45000"/>
                        <a14:foregroundMark x1="95601" y1="45000" x2="95431" y2="43828"/>
                        <a14:foregroundMark x1="49239" y1="71016" x2="49239" y2="71016"/>
                        <a14:foregroundMark x1="48731" y1="72969" x2="48731" y2="72969"/>
                        <a14:foregroundMark x1="50423" y1="27500" x2="50423" y2="27500"/>
                        <a14:foregroundMark x1="2030" y1="48672" x2="2030" y2="48672"/>
                        <a14:foregroundMark x1="59222" y1="43828" x2="59222" y2="43828"/>
                        <a14:backgroundMark x1="8460" y1="30859" x2="8460" y2="30859"/>
                        <a14:backgroundMark x1="1015" y1="33750" x2="26058" y2="24766"/>
                        <a14:backgroundMark x1="96954" y1="35000" x2="72589" y2="26328"/>
                        <a14:backgroundMark x1="72589" y1="26328" x2="66328" y2="19297"/>
                        <a14:backgroundMark x1="91709" y1="72344" x2="99154" y2="67031"/>
                        <a14:backgroundMark x1="20474" y1="71875" x2="2369" y2="67109"/>
                        <a14:backgroundMark x1="2369" y1="67109" x2="2369" y2="67109"/>
                      </a14:backgroundRemoval>
                    </a14:imgEffect>
                  </a14:imgLayer>
                </a14:imgProps>
              </a:ext>
            </a:extLst>
          </a:blip>
          <a:srcRect l="-3720" t="26412" r="-2698" b="25997"/>
          <a:stretch>
            <a:fillRect/>
          </a:stretch>
        </p:blipFill>
        <p:spPr>
          <a:xfrm>
            <a:off x="7178040" y="320040"/>
            <a:ext cx="1235636" cy="1196788"/>
          </a:xfrm>
          <a:prstGeom prst="rect">
            <a:avLst/>
          </a:prstGeom>
        </p:spPr>
      </p:pic>
      <p:pic>
        <p:nvPicPr>
          <p:cNvPr id="29" name="Gráfico 28" descr="Robot amistoso">
            <a:extLst>
              <a:ext uri="{FF2B5EF4-FFF2-40B4-BE49-F238E27FC236}">
                <a16:creationId xmlns:a16="http://schemas.microsoft.com/office/drawing/2014/main" id="{2D42EA1B-77CF-780F-51F8-658338705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4415" y="221401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END-TO-END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funciona por dentro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26517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0120" y="1463040"/>
            <a:ext cx="685800" cy="68580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554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Telegram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04288" y="2651760"/>
            <a:ext cx="146304" cy="0"/>
          </a:xfrm>
          <a:prstGeom prst="line">
            <a:avLst/>
          </a:prstGeom>
          <a:noFill/>
          <a:ln w="381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468880"/>
            <a:ext cx="27432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68880" y="1325880"/>
            <a:ext cx="1920240" cy="2651760"/>
          </a:xfrm>
          <a:prstGeom prst="rect">
            <a:avLst/>
          </a:prstGeom>
          <a:solidFill>
            <a:srgbClr val="CC1A1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063240" y="1463040"/>
            <a:ext cx="685800" cy="68580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15544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6888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560320" y="27432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de sesiones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407408" y="2651760"/>
            <a:ext cx="146304" cy="0"/>
          </a:xfrm>
          <a:prstGeom prst="line">
            <a:avLst/>
          </a:prstGeom>
          <a:noFill/>
          <a:ln w="381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68880"/>
            <a:ext cx="274320" cy="3200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0" y="1325880"/>
            <a:ext cx="1920240" cy="2651760"/>
          </a:xfrm>
          <a:prstGeom prst="rect">
            <a:avLst/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5166360" y="1463040"/>
            <a:ext cx="685800" cy="68580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155448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RAG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663440" y="27432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semántica + scoring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510528" y="2651760"/>
            <a:ext cx="146304" cy="0"/>
          </a:xfrm>
          <a:prstGeom prst="line">
            <a:avLst/>
          </a:prstGeom>
          <a:noFill/>
          <a:ln w="381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68880"/>
            <a:ext cx="274320" cy="32004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675120" y="1325880"/>
            <a:ext cx="1920240" cy="2651760"/>
          </a:xfrm>
          <a:prstGeom prst="rect">
            <a:avLst/>
          </a:prstGeom>
          <a:solidFill>
            <a:srgbClr val="145A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18"/>
          <p:cNvSpPr/>
          <p:nvPr/>
        </p:nvSpPr>
        <p:spPr>
          <a:xfrm>
            <a:off x="7269480" y="1463040"/>
            <a:ext cx="685800" cy="68580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632" y="155448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7512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6766560" y="27432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 Receta + Alternativas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5C800">
              <a:alpha val="20000"/>
            </a:srgbClr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2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sessionId conserva la identidad del usuario a través de todo el flujo, garantizando continuidad y contexto en cada interacción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2DB6A-D2BD-599A-B4B6-4931D913E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84BF1AA-1ACB-36C0-9EDD-A1FF5253FB68}"/>
              </a:ext>
            </a:extLst>
          </p:cNvPr>
          <p:cNvSpPr/>
          <p:nvPr/>
        </p:nvSpPr>
        <p:spPr>
          <a:xfrm>
            <a:off x="457200" y="167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800" b="1" noProof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RAG</a:t>
            </a:r>
            <a:endParaRPr lang="es-CO" sz="2800" noProof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8AA23C-5E29-7B66-1C2D-C4DB4C31F491}"/>
              </a:ext>
            </a:extLst>
          </p:cNvPr>
          <p:cNvSpPr/>
          <p:nvPr/>
        </p:nvSpPr>
        <p:spPr>
          <a:xfrm>
            <a:off x="318095" y="333788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2E87BFA-1AE3-59EC-1C19-007966C85882}"/>
              </a:ext>
            </a:extLst>
          </p:cNvPr>
          <p:cNvSpPr/>
          <p:nvPr/>
        </p:nvSpPr>
        <p:spPr>
          <a:xfrm>
            <a:off x="409535" y="379508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Gestión fluida de sesiones y flujos de conversación manteniendo la identidad del usuario mediante </a:t>
            </a:r>
            <a:r>
              <a:rPr lang="es-CO" sz="105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sessionId</a:t>
            </a:r>
            <a:r>
              <a:rPr lang="es-CO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105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C453A70-9A7A-3B77-3527-A13841E9B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488" y="3384746"/>
            <a:ext cx="274320" cy="32004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657A5918-C21C-642E-4109-C7BCD8CA349E}"/>
              </a:ext>
            </a:extLst>
          </p:cNvPr>
          <p:cNvSpPr/>
          <p:nvPr/>
        </p:nvSpPr>
        <p:spPr>
          <a:xfrm>
            <a:off x="2421215" y="333788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Motor RAG</a:t>
            </a:r>
            <a:endParaRPr lang="en-US" sz="15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90060007-C31A-A3D5-6B16-F65DE3472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895" y="3361072"/>
            <a:ext cx="274320" cy="32004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61B25D9F-AF80-01D4-41FE-5A9ED56A368B}"/>
              </a:ext>
            </a:extLst>
          </p:cNvPr>
          <p:cNvSpPr/>
          <p:nvPr/>
        </p:nvSpPr>
        <p:spPr>
          <a:xfrm>
            <a:off x="4524335" y="333788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50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44A6FDD-D36A-1532-72D3-C108DC2DA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122" y="3360746"/>
            <a:ext cx="274320" cy="320040"/>
          </a:xfrm>
          <a:prstGeom prst="rect">
            <a:avLst/>
          </a:prstGeom>
        </p:spPr>
      </p:pic>
      <p:sp>
        <p:nvSpPr>
          <p:cNvPr id="28" name="Text 19">
            <a:extLst>
              <a:ext uri="{FF2B5EF4-FFF2-40B4-BE49-F238E27FC236}">
                <a16:creationId xmlns:a16="http://schemas.microsoft.com/office/drawing/2014/main" id="{67F4B672-F2C7-53C9-650A-7E12C998AD47}"/>
              </a:ext>
            </a:extLst>
          </p:cNvPr>
          <p:cNvSpPr/>
          <p:nvPr/>
        </p:nvSpPr>
        <p:spPr>
          <a:xfrm>
            <a:off x="6627455" y="333788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5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4AD126C0-697B-0A46-1FF7-2009675B6CF7}"/>
              </a:ext>
            </a:extLst>
          </p:cNvPr>
          <p:cNvSpPr/>
          <p:nvPr/>
        </p:nvSpPr>
        <p:spPr>
          <a:xfrm>
            <a:off x="2438401" y="384080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semántica de productos y recetas basada directamente en el contexto especifico del usuario.</a:t>
            </a:r>
            <a:endParaRPr lang="es-CO" sz="1050" noProof="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7C2C538E-A6A8-53FE-CB06-621651515D9E}"/>
              </a:ext>
            </a:extLst>
          </p:cNvPr>
          <p:cNvSpPr/>
          <p:nvPr/>
        </p:nvSpPr>
        <p:spPr>
          <a:xfrm>
            <a:off x="4615775" y="388652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reglas internas para asegurar que la recomendación sea la mas acertada y coherente posible </a:t>
            </a:r>
            <a:endParaRPr lang="es-CO" sz="1050" noProof="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61735526-E48A-BC8E-2A60-22022A7D265D}"/>
              </a:ext>
            </a:extLst>
          </p:cNvPr>
          <p:cNvSpPr/>
          <p:nvPr/>
        </p:nvSpPr>
        <p:spPr>
          <a:xfrm>
            <a:off x="6793149" y="388652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una recomendación clara, receta estructurada y alternativas para dar continuidad al dialogo.</a:t>
            </a:r>
            <a:endParaRPr lang="es-CO" sz="1050" noProof="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4D578C1D-C642-3ECB-95D9-080B75EA3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35" y="943098"/>
            <a:ext cx="8375936" cy="225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1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6035040" y="3429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"Habla como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como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experto"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EXPERIENCIA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C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USUARIO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270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usuario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Región, personas, método, ocasión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25786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ideal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8720" y="2880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Friko / Antillana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45720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concreta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887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preparar + alternativas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cercano  ·  Tolerante a errores  ·  Web y Telegram  ·  Un mensaje = respuesta completa</a:t>
            </a:r>
            <a:endParaRPr lang="en-US" sz="1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74D1E32-8415-0B0E-F497-CBB47F607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500" b="72969" l="2030" r="95601">
                        <a14:foregroundMark x1="9306" y1="50313" x2="34687" y2="33828"/>
                        <a14:foregroundMark x1="34687" y1="33828" x2="52453" y2="29531"/>
                        <a14:foregroundMark x1="52453" y1="29531" x2="78342" y2="41563"/>
                        <a14:foregroundMark x1="78342" y1="41563" x2="79357" y2="50625"/>
                        <a14:foregroundMark x1="79357" y1="50625" x2="69036" y2="62031"/>
                        <a14:foregroundMark x1="69036" y1="62031" x2="50423" y2="66094"/>
                        <a14:foregroundMark x1="50423" y1="66094" x2="23689" y2="63281"/>
                        <a14:foregroundMark x1="23689" y1="63281" x2="12014" y2="50391"/>
                        <a14:foregroundMark x1="12014" y1="50391" x2="11844" y2="47188"/>
                        <a14:foregroundMark x1="9306" y1="43594" x2="25381" y2="32969"/>
                        <a14:foregroundMark x1="25381" y1="32969" x2="29611" y2="31406"/>
                        <a14:foregroundMark x1="88325" y1="56563" x2="87310" y2="43672"/>
                        <a14:foregroundMark x1="87310" y1="43672" x2="79188" y2="33516"/>
                        <a14:foregroundMark x1="79188" y1="33516" x2="65651" y2="31484"/>
                        <a14:foregroundMark x1="87310" y1="59141" x2="50931" y2="66328"/>
                        <a14:foregroundMark x1="50931" y1="66328" x2="19966" y2="67891"/>
                        <a14:foregroundMark x1="19966" y1="67891" x2="20135" y2="63281"/>
                        <a14:foregroundMark x1="18443" y1="62891" x2="6091" y2="47656"/>
                        <a14:foregroundMark x1="6091" y1="47656" x2="17259" y2="36016"/>
                        <a14:foregroundMark x1="17259" y1="36016" x2="19289" y2="35234"/>
                        <a14:foregroundMark x1="29611" y1="66875" x2="78849" y2="68828"/>
                        <a14:foregroundMark x1="78849" y1="68828" x2="89509" y2="59062"/>
                        <a14:foregroundMark x1="89509" y1="59062" x2="95601" y2="45000"/>
                        <a14:foregroundMark x1="95601" y1="45000" x2="95431" y2="43828"/>
                        <a14:foregroundMark x1="49239" y1="71016" x2="49239" y2="71016"/>
                        <a14:foregroundMark x1="48731" y1="72969" x2="48731" y2="72969"/>
                        <a14:foregroundMark x1="50423" y1="27500" x2="50423" y2="27500"/>
                        <a14:foregroundMark x1="2030" y1="48672" x2="2030" y2="48672"/>
                        <a14:foregroundMark x1="59222" y1="43828" x2="59222" y2="43828"/>
                        <a14:backgroundMark x1="8460" y1="30859" x2="8460" y2="30859"/>
                        <a14:backgroundMark x1="1015" y1="33750" x2="26058" y2="24766"/>
                        <a14:backgroundMark x1="96954" y1="35000" x2="72589" y2="26328"/>
                        <a14:backgroundMark x1="72589" y1="26328" x2="66328" y2="19297"/>
                        <a14:backgroundMark x1="91709" y1="72344" x2="99154" y2="67031"/>
                        <a14:backgroundMark x1="20474" y1="71875" x2="2369" y2="67109"/>
                        <a14:backgroundMark x1="2369" y1="67109" x2="2369" y2="67109"/>
                      </a14:backgroundRemoval>
                    </a14:imgEffect>
                  </a14:imgLayer>
                </a14:imgProps>
              </a:ext>
            </a:extLst>
          </a:blip>
          <a:srcRect l="-3720" t="26412" r="-2698" b="25997"/>
          <a:stretch>
            <a:fillRect/>
          </a:stretch>
        </p:blipFill>
        <p:spPr>
          <a:xfrm>
            <a:off x="6068657" y="586292"/>
            <a:ext cx="2651759" cy="25683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aprendimos construyendo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94360" cy="594360"/>
          </a:xfrm>
          <a:prstGeom prst="ellipse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27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criterio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reglas de negocio, la IA es un riesgo. El valor real surge de límites bien definidos y scoring interno.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937760" y="1783080"/>
            <a:ext cx="594360" cy="59436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874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527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es arquitectura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1500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es un contrato de comportamiento, un mecanismo de seguridad y un traductor entre negocio y tecnología.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594360" y="3337560"/>
            <a:ext cx="594360" cy="59436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4290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y arquitectura son uno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gestionan sesiones, qué se guarda en memoria y cuándo se infiere nacen de decisiones de UX.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00600" y="2971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4937760" y="3337560"/>
            <a:ext cx="594360" cy="59436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4290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Multicanalidad real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71500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Telegram deben responder igual, mantener contexto y proteger la marca en todo momento.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MVP &amp; VISIÓN FUTURA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prototipo a plataforma escalable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logramos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05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funcional en web y Telegram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3957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exclusivamente de portafolio Friko-Antillana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3580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0083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end-to-end robusta con n8n y RAG semántico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4845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6210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coherente en múltiples canales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4754880" y="1188720"/>
            <a:ext cx="4023360" cy="36118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9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Posibilidades abiertas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937760" y="1810512"/>
            <a:ext cx="274320" cy="2743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1"/>
          <p:cNvSpPr/>
          <p:nvPr/>
        </p:nvSpPr>
        <p:spPr>
          <a:xfrm>
            <a:off x="534924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ocasiones y contextos de consumo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937760" y="2423160"/>
            <a:ext cx="274320" cy="2743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3"/>
          <p:cNvSpPr/>
          <p:nvPr/>
        </p:nvSpPr>
        <p:spPr>
          <a:xfrm>
            <a:off x="5349240" y="23957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 más productos y regiones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937760" y="3035808"/>
            <a:ext cx="274320" cy="2743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5"/>
          <p:cNvSpPr/>
          <p:nvPr/>
        </p:nvSpPr>
        <p:spPr>
          <a:xfrm>
            <a:off x="534924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canales de atención al cliente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937760" y="3648456"/>
            <a:ext cx="274320" cy="2743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7"/>
          <p:cNvSpPr/>
          <p:nvPr/>
        </p:nvSpPr>
        <p:spPr>
          <a:xfrm>
            <a:off x="5349240" y="36210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predictivos basados en uso real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C1A1A"/>
          </a:solidFill>
          <a:ln w="127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sólida: una experiencia confiable, automatizada y pensada para el usuario final.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5486400" cy="5486400"/>
          </a:xfrm>
          <a:prstGeom prst="ellipse">
            <a:avLst/>
          </a:prstGeom>
          <a:solidFill>
            <a:srgbClr val="F5C800">
              <a:alpha val="8000"/>
            </a:srgbClr>
          </a:solidFill>
          <a:ln w="12700">
            <a:solidFill>
              <a:srgbClr val="F5C8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i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IA no solo responde,</a:t>
            </a:r>
            <a:endParaRPr lang="es-CO" sz="2200" noProof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b="1" i="1" noProof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 decisiones"</a:t>
            </a:r>
            <a:endParaRPr lang="es-CO" sz="2200" noProof="0"/>
          </a:p>
        </p:txBody>
      </p:sp>
      <p:sp>
        <p:nvSpPr>
          <p:cNvPr id="6" name="Shape 3"/>
          <p:cNvSpPr/>
          <p:nvPr/>
        </p:nvSpPr>
        <p:spPr>
          <a:xfrm>
            <a:off x="2286000" y="3794760"/>
            <a:ext cx="4572000" cy="0"/>
          </a:xfrm>
          <a:prstGeom prst="line">
            <a:avLst/>
          </a:prstGeom>
          <a:noFill/>
          <a:ln w="25400">
            <a:solidFill>
              <a:srgbClr val="CC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noProof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Friko</a:t>
            </a:r>
            <a:r>
              <a:rPr lang="es-CO" sz="1300" noProof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Recomienda transforma una pregunta cotidiana</a:t>
            </a:r>
          </a:p>
          <a:p>
            <a:pPr marL="0" indent="0" algn="ctr">
              <a:buNone/>
            </a:pPr>
            <a:r>
              <a:rPr lang="es-CO" sz="1300" noProof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una experiencia guiada</a:t>
            </a:r>
            <a:r>
              <a:rPr lang="es-CO" sz="1300" noProof="0" dirty="0"/>
              <a:t> </a:t>
            </a:r>
            <a:r>
              <a:rPr lang="es-CO" sz="1300" noProof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la tecnología desaparece </a:t>
            </a:r>
          </a:p>
          <a:p>
            <a:pPr marL="0" indent="0" algn="ctr">
              <a:buNone/>
            </a:pPr>
            <a:r>
              <a:rPr lang="es-CO" sz="1300" noProof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valor de marca se hace visible.</a:t>
            </a:r>
            <a:endParaRPr lang="es-CO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12 · Grupo 2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1B6A916-1326-EFCC-DBF5-38A52FDA6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500" b="72969" l="2030" r="95601">
                        <a14:foregroundMark x1="9306" y1="50313" x2="34687" y2="33828"/>
                        <a14:foregroundMark x1="34687" y1="33828" x2="52453" y2="29531"/>
                        <a14:foregroundMark x1="52453" y1="29531" x2="78342" y2="41563"/>
                        <a14:foregroundMark x1="78342" y1="41563" x2="79357" y2="50625"/>
                        <a14:foregroundMark x1="79357" y1="50625" x2="69036" y2="62031"/>
                        <a14:foregroundMark x1="69036" y1="62031" x2="50423" y2="66094"/>
                        <a14:foregroundMark x1="50423" y1="66094" x2="23689" y2="63281"/>
                        <a14:foregroundMark x1="23689" y1="63281" x2="12014" y2="50391"/>
                        <a14:foregroundMark x1="12014" y1="50391" x2="11844" y2="47188"/>
                        <a14:foregroundMark x1="9306" y1="43594" x2="25381" y2="32969"/>
                        <a14:foregroundMark x1="25381" y1="32969" x2="29611" y2="31406"/>
                        <a14:foregroundMark x1="88325" y1="56563" x2="87310" y2="43672"/>
                        <a14:foregroundMark x1="87310" y1="43672" x2="79188" y2="33516"/>
                        <a14:foregroundMark x1="79188" y1="33516" x2="65651" y2="31484"/>
                        <a14:foregroundMark x1="87310" y1="59141" x2="50931" y2="66328"/>
                        <a14:foregroundMark x1="50931" y1="66328" x2="19966" y2="67891"/>
                        <a14:foregroundMark x1="19966" y1="67891" x2="20135" y2="63281"/>
                        <a14:foregroundMark x1="18443" y1="62891" x2="6091" y2="47656"/>
                        <a14:foregroundMark x1="6091" y1="47656" x2="17259" y2="36016"/>
                        <a14:foregroundMark x1="17259" y1="36016" x2="19289" y2="35234"/>
                        <a14:foregroundMark x1="29611" y1="66875" x2="78849" y2="68828"/>
                        <a14:foregroundMark x1="78849" y1="68828" x2="89509" y2="59062"/>
                        <a14:foregroundMark x1="89509" y1="59062" x2="95601" y2="45000"/>
                        <a14:foregroundMark x1="95601" y1="45000" x2="95431" y2="43828"/>
                        <a14:foregroundMark x1="49239" y1="71016" x2="49239" y2="71016"/>
                        <a14:foregroundMark x1="48731" y1="72969" x2="48731" y2="72969"/>
                        <a14:foregroundMark x1="50423" y1="27500" x2="50423" y2="27500"/>
                        <a14:foregroundMark x1="2030" y1="48672" x2="2030" y2="48672"/>
                        <a14:foregroundMark x1="59222" y1="43828" x2="59222" y2="43828"/>
                        <a14:backgroundMark x1="8460" y1="30859" x2="8460" y2="30859"/>
                        <a14:backgroundMark x1="1015" y1="33750" x2="26058" y2="24766"/>
                        <a14:backgroundMark x1="96954" y1="35000" x2="72589" y2="26328"/>
                        <a14:backgroundMark x1="72589" y1="26328" x2="66328" y2="19297"/>
                        <a14:backgroundMark x1="91709" y1="72344" x2="99154" y2="67031"/>
                        <a14:backgroundMark x1="20474" y1="71875" x2="2369" y2="67109"/>
                        <a14:backgroundMark x1="2369" y1="67109" x2="2369" y2="67109"/>
                      </a14:backgroundRemoval>
                    </a14:imgEffect>
                  </a14:imgLayer>
                </a14:imgProps>
              </a:ext>
            </a:extLst>
          </a:blip>
          <a:srcRect l="-3720" t="26412" r="-2698" b="25997"/>
          <a:stretch>
            <a:fillRect/>
          </a:stretch>
        </p:blipFill>
        <p:spPr>
          <a:xfrm>
            <a:off x="3717417" y="731862"/>
            <a:ext cx="1899611" cy="1839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558</Words>
  <Application>Microsoft Office PowerPoint</Application>
  <PresentationFormat>Presentación en pantalla (16:9)</PresentationFormat>
  <Paragraphs>98</Paragraphs>
  <Slides>10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Friko Recomienda</dc:title>
  <dc:subject>PptxGenJS Presentation</dc:subject>
  <dc:creator>PptxGenJS</dc:creator>
  <cp:lastModifiedBy>Mileydi Astrid Casallas Romero</cp:lastModifiedBy>
  <cp:revision>2</cp:revision>
  <dcterms:created xsi:type="dcterms:W3CDTF">2026-05-04T00:16:16Z</dcterms:created>
  <dcterms:modified xsi:type="dcterms:W3CDTF">2026-05-04T01:36:08Z</dcterms:modified>
</cp:coreProperties>
</file>